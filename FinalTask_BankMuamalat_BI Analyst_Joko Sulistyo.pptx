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0" r:id="rId1"/>
  </p:sldMasterIdLst>
  <p:notesMasterIdLst>
    <p:notesMasterId r:id="rId12"/>
  </p:notesMasterIdLst>
  <p:sldIdLst>
    <p:sldId id="256" r:id="rId2"/>
    <p:sldId id="258" r:id="rId3"/>
    <p:sldId id="259" r:id="rId4"/>
    <p:sldId id="264" r:id="rId5"/>
    <p:sldId id="265" r:id="rId6"/>
    <p:sldId id="266" r:id="rId7"/>
    <p:sldId id="260" r:id="rId8"/>
    <p:sldId id="267" r:id="rId9"/>
    <p:sldId id="268" r:id="rId10"/>
    <p:sldId id="269" r:id="rId11"/>
  </p:sldIdLst>
  <p:sldSz cx="9144000" cy="5143500" type="screen16x9"/>
  <p:notesSz cx="6858000" cy="9144000"/>
  <p:embeddedFontLst>
    <p:embeddedFont>
      <p:font typeface="Calibri" panose="020F0502020204030204" pitchFamily="34" charset="0"/>
      <p:regular r:id="rId13"/>
      <p:bold r:id="rId14"/>
      <p:italic r:id="rId15"/>
      <p:boldItalic r:id="rId16"/>
    </p:embeddedFont>
    <p:embeddedFont>
      <p:font typeface="Calibri Light" panose="020F0302020204030204" pitchFamily="34" charset="0"/>
      <p:regular r:id="rId17"/>
      <p:italic r:id="rId18"/>
    </p:embeddedFont>
    <p:embeddedFont>
      <p:font typeface="Rubik" panose="020B0604020202020204" charset="-79"/>
      <p:regular r:id="rId19"/>
      <p:bold r:id="rId20"/>
      <p:italic r:id="rId21"/>
      <p:boldItalic r:id="rId22"/>
    </p:embeddedFont>
    <p:embeddedFont>
      <p:font typeface="Rubik Light" panose="020B0604020202020204" charset="-79"/>
      <p:regular r:id="rId23"/>
      <p:bold r:id="rId24"/>
      <p:italic r:id="rId25"/>
      <p:boldItalic r:id="rId26"/>
    </p:embeddedFont>
    <p:embeddedFont>
      <p:font typeface="Rubik SemiBold" panose="020B0604020202020204" charset="-79"/>
      <p:regular r:id="rId27"/>
      <p:bold r:id="rId28"/>
      <p:italic r:id="rId29"/>
      <p:boldItalic r:id="rId3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E34AE"/>
    <a:srgbClr val="019FAB"/>
    <a:srgbClr val="0C9BA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0"/>
    <p:restoredTop sz="69856" autoAdjust="0"/>
  </p:normalViewPr>
  <p:slideViewPr>
    <p:cSldViewPr snapToGrid="0">
      <p:cViewPr varScale="1">
        <p:scale>
          <a:sx n="104" d="100"/>
          <a:sy n="104" d="100"/>
        </p:scale>
        <p:origin x="778" y="29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font" Target="fonts/font14.fntdata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font" Target="fonts/font13.fntdata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29" Type="http://schemas.openxmlformats.org/officeDocument/2006/relationships/font" Target="fonts/font1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2.fntdata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28" Type="http://schemas.openxmlformats.org/officeDocument/2006/relationships/font" Target="fonts/font16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font" Target="fonts/font15.fntdata"/><Relationship Id="rId30" Type="http://schemas.openxmlformats.org/officeDocument/2006/relationships/font" Target="fonts/font18.fntdata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21356d9b0f1_0_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21356d9b0f1_0_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2200da5092a_0_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2200da5092a_0_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2200da5092a_0_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2200da5092a_0_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2200da5092a_0_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2200da5092a_0_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77542597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2200da5092a_0_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2200da5092a_0_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ID" dirty="0"/>
              <a:t>Relationship </a:t>
            </a:r>
            <a:r>
              <a:rPr lang="en-ID" dirty="0" err="1"/>
              <a:t>antar</a:t>
            </a:r>
            <a:r>
              <a:rPr lang="en-ID" dirty="0"/>
              <a:t> </a:t>
            </a:r>
            <a:r>
              <a:rPr lang="en-ID" dirty="0" err="1"/>
              <a:t>tabel</a:t>
            </a:r>
            <a:r>
              <a:rPr lang="en-ID" dirty="0"/>
              <a:t> </a:t>
            </a:r>
            <a:r>
              <a:rPr lang="en-ID" dirty="0" err="1"/>
              <a:t>adalah</a:t>
            </a:r>
            <a:r>
              <a:rPr lang="en-ID" dirty="0"/>
              <a:t> </a:t>
            </a:r>
            <a:r>
              <a:rPr lang="en-ID" dirty="0" err="1"/>
              <a:t>sebagai</a:t>
            </a:r>
            <a:r>
              <a:rPr lang="en-ID" dirty="0"/>
              <a:t> </a:t>
            </a:r>
            <a:r>
              <a:rPr lang="en-ID" dirty="0" err="1"/>
              <a:t>berikut</a:t>
            </a:r>
            <a:r>
              <a:rPr lang="en-ID" dirty="0"/>
              <a:t>:</a:t>
            </a:r>
          </a:p>
          <a:p>
            <a:pPr>
              <a:buFont typeface="+mj-lt"/>
              <a:buAutoNum type="arabicPeriod"/>
            </a:pPr>
            <a:r>
              <a:rPr lang="en-ID" dirty="0" err="1"/>
              <a:t>Tabel</a:t>
            </a:r>
            <a:r>
              <a:rPr lang="en-ID" dirty="0"/>
              <a:t> Customers </a:t>
            </a:r>
            <a:r>
              <a:rPr lang="en-ID" dirty="0" err="1"/>
              <a:t>memiliki</a:t>
            </a:r>
            <a:r>
              <a:rPr lang="en-ID" dirty="0"/>
              <a:t> </a:t>
            </a:r>
            <a:r>
              <a:rPr lang="en-ID" dirty="0" err="1"/>
              <a:t>relasi</a:t>
            </a:r>
            <a:r>
              <a:rPr lang="en-ID" dirty="0"/>
              <a:t> One-to-Many (1) </a:t>
            </a:r>
            <a:r>
              <a:rPr lang="en-ID" dirty="0" err="1"/>
              <a:t>terhadap</a:t>
            </a:r>
            <a:r>
              <a:rPr lang="en-ID" dirty="0"/>
              <a:t> </a:t>
            </a:r>
            <a:r>
              <a:rPr lang="en-ID" dirty="0" err="1"/>
              <a:t>tabel</a:t>
            </a:r>
            <a:r>
              <a:rPr lang="en-ID" dirty="0"/>
              <a:t> Orders </a:t>
            </a:r>
            <a:r>
              <a:rPr lang="en-ID" dirty="0" err="1"/>
              <a:t>melalui</a:t>
            </a:r>
            <a:r>
              <a:rPr lang="en-ID" dirty="0"/>
              <a:t> </a:t>
            </a:r>
            <a:r>
              <a:rPr lang="en-ID" dirty="0" err="1"/>
              <a:t>kolom</a:t>
            </a:r>
            <a:r>
              <a:rPr lang="en-ID" dirty="0"/>
              <a:t> </a:t>
            </a:r>
            <a:r>
              <a:rPr lang="en-ID" dirty="0" err="1"/>
              <a:t>CustomerID</a:t>
            </a:r>
            <a:r>
              <a:rPr lang="en-ID" dirty="0"/>
              <a:t>.</a:t>
            </a:r>
          </a:p>
          <a:p>
            <a:pPr>
              <a:buFont typeface="+mj-lt"/>
              <a:buAutoNum type="arabicPeriod"/>
            </a:pPr>
            <a:r>
              <a:rPr lang="en-ID" dirty="0" err="1"/>
              <a:t>Tabel</a:t>
            </a:r>
            <a:r>
              <a:rPr lang="en-ID" dirty="0"/>
              <a:t> Products </a:t>
            </a:r>
            <a:r>
              <a:rPr lang="en-ID" dirty="0" err="1"/>
              <a:t>memiliki</a:t>
            </a:r>
            <a:r>
              <a:rPr lang="en-ID" dirty="0"/>
              <a:t> </a:t>
            </a:r>
            <a:r>
              <a:rPr lang="en-ID" dirty="0" err="1"/>
              <a:t>relasi</a:t>
            </a:r>
            <a:r>
              <a:rPr lang="en-ID" dirty="0"/>
              <a:t> One-to-Many (1) </a:t>
            </a:r>
            <a:r>
              <a:rPr lang="en-ID" dirty="0" err="1"/>
              <a:t>terhadap</a:t>
            </a:r>
            <a:r>
              <a:rPr lang="en-ID" dirty="0"/>
              <a:t> </a:t>
            </a:r>
            <a:r>
              <a:rPr lang="en-ID" dirty="0" err="1"/>
              <a:t>tabel</a:t>
            </a:r>
            <a:r>
              <a:rPr lang="en-ID" dirty="0"/>
              <a:t> Orders </a:t>
            </a:r>
            <a:r>
              <a:rPr lang="en-ID" dirty="0" err="1"/>
              <a:t>melalui</a:t>
            </a:r>
            <a:r>
              <a:rPr lang="en-ID" dirty="0"/>
              <a:t> </a:t>
            </a:r>
            <a:r>
              <a:rPr lang="en-ID" dirty="0" err="1"/>
              <a:t>kolom</a:t>
            </a:r>
            <a:r>
              <a:rPr lang="en-ID" dirty="0"/>
              <a:t> </a:t>
            </a:r>
            <a:r>
              <a:rPr lang="en-ID" dirty="0" err="1"/>
              <a:t>ProdNumber</a:t>
            </a:r>
            <a:r>
              <a:rPr lang="en-ID" dirty="0"/>
              <a:t>.</a:t>
            </a:r>
          </a:p>
          <a:p>
            <a:pPr>
              <a:buFont typeface="+mj-lt"/>
              <a:buAutoNum type="arabicPeriod"/>
            </a:pPr>
            <a:r>
              <a:rPr lang="en-ID" dirty="0" err="1"/>
              <a:t>Tabel</a:t>
            </a:r>
            <a:r>
              <a:rPr lang="en-ID" dirty="0"/>
              <a:t> </a:t>
            </a:r>
            <a:r>
              <a:rPr lang="en-ID" dirty="0" err="1"/>
              <a:t>ProductCategory</a:t>
            </a:r>
            <a:r>
              <a:rPr lang="en-ID" dirty="0"/>
              <a:t> </a:t>
            </a:r>
            <a:r>
              <a:rPr lang="en-ID" dirty="0" err="1"/>
              <a:t>memiliki</a:t>
            </a:r>
            <a:r>
              <a:rPr lang="en-ID" dirty="0"/>
              <a:t> </a:t>
            </a:r>
            <a:r>
              <a:rPr lang="en-ID" dirty="0" err="1"/>
              <a:t>relasi</a:t>
            </a:r>
            <a:r>
              <a:rPr lang="en-ID" dirty="0"/>
              <a:t> One-to-Many (1) </a:t>
            </a:r>
            <a:r>
              <a:rPr lang="en-ID" dirty="0" err="1"/>
              <a:t>terhadap</a:t>
            </a:r>
            <a:r>
              <a:rPr lang="en-ID" dirty="0"/>
              <a:t> </a:t>
            </a:r>
            <a:r>
              <a:rPr lang="en-ID" dirty="0" err="1"/>
              <a:t>tabel</a:t>
            </a:r>
            <a:r>
              <a:rPr lang="en-ID" dirty="0"/>
              <a:t> Products </a:t>
            </a:r>
            <a:r>
              <a:rPr lang="en-ID" dirty="0" err="1"/>
              <a:t>melalui</a:t>
            </a:r>
            <a:r>
              <a:rPr lang="en-ID" dirty="0"/>
              <a:t> </a:t>
            </a:r>
            <a:r>
              <a:rPr lang="en-ID" dirty="0" err="1"/>
              <a:t>kolom</a:t>
            </a:r>
            <a:r>
              <a:rPr lang="en-ID" dirty="0"/>
              <a:t> </a:t>
            </a:r>
            <a:r>
              <a:rPr lang="en-ID" dirty="0" err="1"/>
              <a:t>CategoryID</a:t>
            </a:r>
            <a:r>
              <a:rPr lang="en-ID" dirty="0"/>
              <a:t>.</a:t>
            </a:r>
          </a:p>
          <a:p>
            <a:pPr marL="158750" indent="0">
              <a:buFont typeface="+mj-lt"/>
              <a:buNone/>
            </a:pPr>
            <a:endParaRPr lang="en-ID" dirty="0"/>
          </a:p>
          <a:p>
            <a:r>
              <a:rPr lang="en-ID" dirty="0"/>
              <a:t>Foreign key yang </a:t>
            </a:r>
            <a:r>
              <a:rPr lang="en-ID" dirty="0" err="1"/>
              <a:t>digunakan</a:t>
            </a:r>
            <a:r>
              <a:rPr lang="en-ID" dirty="0"/>
              <a:t>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D" dirty="0" err="1"/>
              <a:t>orders.CustomerID</a:t>
            </a:r>
            <a:r>
              <a:rPr lang="en-ID" dirty="0"/>
              <a:t> → </a:t>
            </a:r>
            <a:r>
              <a:rPr lang="en-ID" dirty="0" err="1"/>
              <a:t>customers.CustomerID</a:t>
            </a:r>
            <a:endParaRPr lang="en-ID" dirty="0"/>
          </a:p>
          <a:p>
            <a:pPr>
              <a:buFont typeface="Arial" panose="020B0604020202020204" pitchFamily="34" charset="0"/>
              <a:buChar char="•"/>
            </a:pPr>
            <a:r>
              <a:rPr lang="en-ID" dirty="0" err="1"/>
              <a:t>orders.ProdNumber</a:t>
            </a:r>
            <a:r>
              <a:rPr lang="en-ID" dirty="0"/>
              <a:t> → </a:t>
            </a:r>
            <a:r>
              <a:rPr lang="en-ID" dirty="0" err="1"/>
              <a:t>products.ProdNumber</a:t>
            </a:r>
            <a:endParaRPr lang="en-ID" dirty="0"/>
          </a:p>
          <a:p>
            <a:pPr>
              <a:buFont typeface="Arial" panose="020B0604020202020204" pitchFamily="34" charset="0"/>
              <a:buChar char="•"/>
            </a:pPr>
            <a:r>
              <a:rPr lang="en-ID" dirty="0" err="1"/>
              <a:t>products.Category</a:t>
            </a:r>
            <a:r>
              <a:rPr lang="en-ID" dirty="0"/>
              <a:t> → </a:t>
            </a:r>
            <a:r>
              <a:rPr lang="en-ID" dirty="0" err="1"/>
              <a:t>prodcat.CategoryID</a:t>
            </a:r>
            <a:endParaRPr lang="en-ID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71240224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2200da5092a_0_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2200da5092a_0_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38754234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2200da5092a_0_1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2200da5092a_0_1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2200da5092a_0_1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2200da5092a_0_1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70493424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2200da5092a_0_1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2200da5092a_0_1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68457317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2200da5092a_0_1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2200da5092a_0_1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15177997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148315-9421-09D9-BE30-9F60542E584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23C7F62-ABB6-E05D-A34B-56FD97689F2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3F0FCD-A704-E275-3964-E4F1C55A85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FE410B-F549-4EAD-9A8D-B3E744276836}" type="datetimeFigureOut">
              <a:rPr lang="en-ID" smtClean="0"/>
              <a:t>06/06/2026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F3ACDE-874B-2CF8-29C7-C322D3B93E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FE5F1F-72A2-FF05-80E3-E25765A256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405621761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69E0AC-6296-B9E6-E392-3226C5CEB9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F42161-BC2C-9579-F472-AF03F8768B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CA76E6-1282-22DF-80E6-B540A52266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FE410B-F549-4EAD-9A8D-B3E744276836}" type="datetimeFigureOut">
              <a:rPr lang="en-ID" smtClean="0"/>
              <a:t>06/06/2026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722F95-1E56-20AD-7EF9-E75937ECD7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0C1E8C-4777-7509-6BB7-ED2FA70374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4289896354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F29E6D-9A8A-5B0D-5611-E8F2C728B4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3DDF65C-8F76-8B3B-B211-EF7E26A039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31B594-CC5B-64B2-65DF-1C90E2077E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FE410B-F549-4EAD-9A8D-B3E744276836}" type="datetimeFigureOut">
              <a:rPr lang="en-ID" smtClean="0"/>
              <a:t>06/06/2026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43B487-A952-CAB1-7AE1-950B8851DA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FCC85A-CD88-2763-42A4-F6EEA73840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456452997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3945D0-8A79-237D-14B4-478F437BF8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2EB88A-6797-3051-9038-2EFF6D456FE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117F177-FFE6-469F-3016-8A295292F9C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130552D-EB6C-791E-5131-35CB92F1BD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FE410B-F549-4EAD-9A8D-B3E744276836}" type="datetimeFigureOut">
              <a:rPr lang="en-ID" smtClean="0"/>
              <a:t>06/06/2026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027E53C-A4D4-919C-D68B-541929757A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0A0397A-097A-BB85-8EBA-64E4E8CE76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4023797527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583C1C-A6A8-5D77-739E-6CA42571D4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5CE3285-741D-8F45-3897-434FEA1A69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C5DD422-271B-F5F4-DFD6-8ED1278E7B7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760064D-06EC-31AD-A038-6E61036E1DC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0D14382-D5F2-4DD8-1658-254993B889E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F079687-D5BC-EEB7-F302-7CF9B38991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FE410B-F549-4EAD-9A8D-B3E744276836}" type="datetimeFigureOut">
              <a:rPr lang="en-ID" smtClean="0"/>
              <a:t>06/06/2026</a:t>
            </a:fld>
            <a:endParaRPr lang="en-ID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A286AAC-8CCF-D45C-A891-F4B3AB54CD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FE37D1F-EDA7-04B6-3990-FBAE08E3A3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360092461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FAE11A-179B-8401-E8D8-D72A060098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CD6CE5F-1980-A110-0425-6FEB5ACC65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FE410B-F549-4EAD-9A8D-B3E744276836}" type="datetimeFigureOut">
              <a:rPr lang="en-ID" smtClean="0"/>
              <a:t>06/06/2026</a:t>
            </a:fld>
            <a:endParaRPr lang="en-ID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F05F243-49E1-BFAC-6980-0E6947179B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5021AAB-B819-ABBC-A417-8C0F992CF6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3480911019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AD4E11F-0BA9-B5D2-D30B-AAC4A7C3B6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FE410B-F549-4EAD-9A8D-B3E744276836}" type="datetimeFigureOut">
              <a:rPr lang="en-ID" smtClean="0"/>
              <a:t>06/06/2026</a:t>
            </a:fld>
            <a:endParaRPr lang="en-ID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7E6207C-11EE-DB9A-4FB5-972B820E94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52FCB2E-6F97-0E84-2286-C9DD798783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30268270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4B6BE2-765B-B9A7-0852-340C3DECF0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A78FD7-AF6E-5517-519D-5AB0D64187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7666C27-AF15-9742-0516-92BC3DDDC58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51C091-1C8B-2AC6-2EAA-32EE133548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FE410B-F549-4EAD-9A8D-B3E744276836}" type="datetimeFigureOut">
              <a:rPr lang="en-ID" smtClean="0"/>
              <a:t>06/06/2026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DFA6385-3C04-D79B-1E9B-F9EFBD0FB7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2DF6BB6-0334-2932-94AB-4656E9D42F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2047844865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6404A4-7B28-FFF2-CFD7-B287DB3863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3D466F3-A808-F509-515E-F85FEE36B6F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I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C624F15-BC98-E411-C5B3-0D1812212AF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14B73C6-6746-CA8E-A47E-6BE93219EA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FE410B-F549-4EAD-9A8D-B3E744276836}" type="datetimeFigureOut">
              <a:rPr lang="en-ID" smtClean="0"/>
              <a:t>06/06/2026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F6C0251-8B24-E770-BD41-265445DF39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ACA6D6-BAD6-802A-FC29-1BE746E363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2898796028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95CE36-C095-9C21-1A9E-8C55447467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E68E066-147B-06C5-CF76-C4DCD364DB9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3FB406-184C-F009-50C8-7A243455FA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FE410B-F549-4EAD-9A8D-B3E744276836}" type="datetimeFigureOut">
              <a:rPr lang="en-ID" smtClean="0"/>
              <a:t>06/06/2026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610D01-894E-015C-7C1B-0BDEFFC542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82700E-7570-70B5-9412-8ADD861613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2545524368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A585030-0063-F8E6-2BFE-DBC9CD412BF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D7A081F-3EA0-0AC9-AE3F-FB652C4F497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A930AE-3EBD-A253-398E-85E2A9D449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FE410B-F549-4EAD-9A8D-B3E744276836}" type="datetimeFigureOut">
              <a:rPr lang="en-ID" smtClean="0"/>
              <a:t>06/06/2026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A574B9-566A-A7F6-691C-D23AB58CA8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B8AA02-558E-0811-1E2B-79BC60B9AA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272177087"/>
      </p:ext>
    </p:extLst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F88804C-D577-DDFF-D7C3-D0EA745019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23CC9D2-0E6B-0200-D9F5-4D2BBE9E26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245507-F46A-385B-7FF4-5559A7ABFFC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AFE410B-F549-4EAD-9A8D-B3E744276836}" type="datetimeFigureOut">
              <a:rPr lang="en-ID" smtClean="0"/>
              <a:t>06/06/2026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A4DD36-0656-06E6-F5C4-5578203EC0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E9BBD0-DAE9-87BC-C908-70E4766FFD3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24567668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png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datastudio.google.com/reporting/a191d3b5-fcff-4984-b8d4-5e1da3784a08" TargetMode="External"/><Relationship Id="rId5" Type="http://schemas.openxmlformats.org/officeDocument/2006/relationships/image" Target="../media/image9.png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19FAB"/>
        </a:solidFill>
        <a:effectLst/>
      </p:bgPr>
    </p:bg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/>
          <p:cNvPicPr preferRelativeResize="0"/>
          <p:nvPr/>
        </p:nvPicPr>
        <p:blipFill>
          <a:blip r:embed="rId3">
            <a:alphaModFix amt="10000"/>
          </a:blip>
          <a:stretch>
            <a:fillRect/>
          </a:stretch>
        </p:blipFill>
        <p:spPr>
          <a:xfrm>
            <a:off x="0" y="0"/>
            <a:ext cx="9144001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55" name="Google Shape;55;p1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49800" y="186500"/>
            <a:ext cx="1399901" cy="541300"/>
          </a:xfrm>
          <a:prstGeom prst="rect">
            <a:avLst/>
          </a:prstGeom>
          <a:noFill/>
          <a:ln>
            <a:noFill/>
          </a:ln>
        </p:spPr>
      </p:pic>
      <p:sp>
        <p:nvSpPr>
          <p:cNvPr id="56" name="Google Shape;56;p13"/>
          <p:cNvSpPr txBox="1"/>
          <p:nvPr/>
        </p:nvSpPr>
        <p:spPr>
          <a:xfrm>
            <a:off x="502010" y="1129461"/>
            <a:ext cx="6255114" cy="1292631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chemeClr val="lt1"/>
                </a:solidFill>
                <a:latin typeface="Rubik"/>
                <a:ea typeface="Rubik"/>
                <a:cs typeface="Rubik"/>
                <a:sym typeface="Rubik"/>
              </a:rPr>
              <a:t>Sales Performance Analysis and Business Intelligence Dashboard of PT Sejahtera Bersama</a:t>
            </a:r>
            <a:endParaRPr lang="en-ID" sz="2400" dirty="0">
              <a:solidFill>
                <a:schemeClr val="lt1"/>
              </a:solidFill>
              <a:latin typeface="Rubik"/>
              <a:ea typeface="Rubik"/>
              <a:cs typeface="Rubik"/>
              <a:sym typeface="Rubik"/>
            </a:endParaRPr>
          </a:p>
        </p:txBody>
      </p:sp>
      <p:sp>
        <p:nvSpPr>
          <p:cNvPr id="57" name="Google Shape;57;p13"/>
          <p:cNvSpPr txBox="1"/>
          <p:nvPr/>
        </p:nvSpPr>
        <p:spPr>
          <a:xfrm>
            <a:off x="517899" y="2520700"/>
            <a:ext cx="6239225" cy="56935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 dirty="0">
                <a:solidFill>
                  <a:schemeClr val="lt1"/>
                </a:solidFill>
                <a:latin typeface="Rubik SemiBold"/>
                <a:ea typeface="Rubik SemiBold"/>
                <a:cs typeface="Rubik SemiBold"/>
                <a:sym typeface="Rubik SemiBold"/>
              </a:rPr>
              <a:t>PBI – Business Intelligence Analyst</a:t>
            </a:r>
            <a:endParaRPr sz="2500" dirty="0">
              <a:solidFill>
                <a:schemeClr val="lt1"/>
              </a:solidFill>
              <a:latin typeface="Rubik SemiBold"/>
              <a:ea typeface="Rubik SemiBold"/>
              <a:cs typeface="Rubik SemiBold"/>
              <a:sym typeface="Rubik SemiBold"/>
            </a:endParaRPr>
          </a:p>
        </p:txBody>
      </p:sp>
      <p:sp>
        <p:nvSpPr>
          <p:cNvPr id="58" name="Google Shape;58;p13"/>
          <p:cNvSpPr/>
          <p:nvPr/>
        </p:nvSpPr>
        <p:spPr>
          <a:xfrm>
            <a:off x="6757125" y="-621925"/>
            <a:ext cx="3135000" cy="30510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" name="Google Shape;59;p13"/>
          <p:cNvSpPr txBox="1"/>
          <p:nvPr/>
        </p:nvSpPr>
        <p:spPr>
          <a:xfrm>
            <a:off x="1769125" y="172450"/>
            <a:ext cx="4578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 dirty="0">
                <a:solidFill>
                  <a:schemeClr val="lt1"/>
                </a:solidFill>
                <a:latin typeface="Rubik SemiBold"/>
                <a:ea typeface="Rubik SemiBold"/>
                <a:cs typeface="Rubik SemiBold"/>
                <a:sym typeface="Rubik SemiBold"/>
              </a:rPr>
              <a:t>X</a:t>
            </a:r>
            <a:endParaRPr sz="3000" dirty="0">
              <a:solidFill>
                <a:schemeClr val="lt1"/>
              </a:solidFill>
              <a:latin typeface="Rubik SemiBold"/>
              <a:ea typeface="Rubik SemiBold"/>
              <a:cs typeface="Rubik SemiBold"/>
              <a:sym typeface="Rubik SemiBold"/>
            </a:endParaRPr>
          </a:p>
        </p:txBody>
      </p:sp>
      <p:sp>
        <p:nvSpPr>
          <p:cNvPr id="60" name="Google Shape;60;p13"/>
          <p:cNvSpPr txBox="1"/>
          <p:nvPr/>
        </p:nvSpPr>
        <p:spPr>
          <a:xfrm>
            <a:off x="517900" y="3090100"/>
            <a:ext cx="4392000" cy="8004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dirty="0">
                <a:solidFill>
                  <a:schemeClr val="lt1"/>
                </a:solidFill>
                <a:latin typeface="Rubik Light"/>
                <a:ea typeface="Rubik Light"/>
                <a:cs typeface="Rubik Light"/>
                <a:sym typeface="Rubik Light"/>
              </a:rPr>
              <a:t>Presented by</a:t>
            </a:r>
            <a:endParaRPr sz="2000" dirty="0">
              <a:solidFill>
                <a:schemeClr val="lt1"/>
              </a:solidFill>
              <a:latin typeface="Rubik Light"/>
              <a:ea typeface="Rubik Light"/>
              <a:cs typeface="Rubik Light"/>
              <a:sym typeface="Rubik Ligh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dirty="0">
                <a:solidFill>
                  <a:schemeClr val="lt1"/>
                </a:solidFill>
                <a:latin typeface="Rubik Light"/>
                <a:ea typeface="Rubik Light"/>
                <a:cs typeface="Rubik Light"/>
                <a:sym typeface="Rubik Light"/>
              </a:rPr>
              <a:t>Joko Sulistyo</a:t>
            </a:r>
            <a:endParaRPr sz="2000" dirty="0">
              <a:solidFill>
                <a:schemeClr val="lt1"/>
              </a:solidFill>
              <a:latin typeface="Rubik Light"/>
              <a:ea typeface="Rubik Light"/>
              <a:cs typeface="Rubik Light"/>
              <a:sym typeface="Rubik Light"/>
            </a:endParaRP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43484A0C-AD00-10EB-2367-04020AD69C82}"/>
              </a:ext>
            </a:extLst>
          </p:cNvPr>
          <p:cNvGrpSpPr/>
          <p:nvPr/>
        </p:nvGrpSpPr>
        <p:grpSpPr>
          <a:xfrm>
            <a:off x="2300420" y="-72969"/>
            <a:ext cx="1666584" cy="1060238"/>
            <a:chOff x="2386876" y="-28607"/>
            <a:chExt cx="1666584" cy="1060238"/>
          </a:xfrm>
        </p:grpSpPr>
        <p:pic>
          <p:nvPicPr>
            <p:cNvPr id="3" name="Picture 2" descr="A logo with text on it&#10;&#10;Description automatically generated">
              <a:extLst>
                <a:ext uri="{FF2B5EF4-FFF2-40B4-BE49-F238E27FC236}">
                  <a16:creationId xmlns:a16="http://schemas.microsoft.com/office/drawing/2014/main" id="{6DA620F5-6AD0-A53F-51F9-3412F748842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2386876" y="-28607"/>
              <a:ext cx="1666584" cy="1060238"/>
            </a:xfrm>
            <a:prstGeom prst="rect">
              <a:avLst/>
            </a:prstGeom>
          </p:spPr>
        </p:pic>
        <p:pic>
          <p:nvPicPr>
            <p:cNvPr id="4" name="Picture 3" descr="A logo with text on it&#10;&#10;Description automatically generated">
              <a:extLst>
                <a:ext uri="{FF2B5EF4-FFF2-40B4-BE49-F238E27FC236}">
                  <a16:creationId xmlns:a16="http://schemas.microsoft.com/office/drawing/2014/main" id="{5D8075D3-4BC2-480A-AFF7-912FD6D6CA2F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2386876" y="-28607"/>
              <a:ext cx="1666584" cy="1060238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" name="Google Shape;74;p15"/>
          <p:cNvPicPr preferRelativeResize="0"/>
          <p:nvPr/>
        </p:nvPicPr>
        <p:blipFill>
          <a:blip r:embed="rId3">
            <a:alphaModFix amt="5000"/>
          </a:blip>
          <a:stretch>
            <a:fillRect/>
          </a:stretch>
        </p:blipFill>
        <p:spPr>
          <a:xfrm>
            <a:off x="0" y="0"/>
            <a:ext cx="9144001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75" name="Google Shape;75;p15"/>
          <p:cNvPicPr preferRelativeResize="0"/>
          <p:nvPr/>
        </p:nvPicPr>
        <p:blipFill rotWithShape="1">
          <a:blip r:embed="rId4">
            <a:alphaModFix/>
          </a:blip>
          <a:srcRect t="5659" b="5650"/>
          <a:stretch/>
        </p:blipFill>
        <p:spPr>
          <a:xfrm>
            <a:off x="7317600" y="185625"/>
            <a:ext cx="1399902" cy="541300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5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rgbClr val="019FAB">
              <a:alpha val="4843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8" name="Google Shape;78;p15"/>
          <p:cNvSpPr txBox="1"/>
          <p:nvPr/>
        </p:nvSpPr>
        <p:spPr>
          <a:xfrm>
            <a:off x="2504263" y="749822"/>
            <a:ext cx="2001600" cy="11079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 dirty="0">
                <a:latin typeface="Rubik SemiBold"/>
                <a:ea typeface="Rubik SemiBold"/>
                <a:cs typeface="Rubik SemiBold"/>
                <a:sym typeface="Rubik SemiBold"/>
              </a:rPr>
              <a:t>Joko</a:t>
            </a:r>
            <a:br>
              <a:rPr lang="en" sz="3000" dirty="0">
                <a:latin typeface="Rubik SemiBold"/>
                <a:ea typeface="Rubik SemiBold"/>
                <a:cs typeface="Rubik SemiBold"/>
                <a:sym typeface="Rubik SemiBold"/>
              </a:rPr>
            </a:br>
            <a:r>
              <a:rPr lang="en" sz="3000" dirty="0">
                <a:latin typeface="Rubik SemiBold"/>
                <a:ea typeface="Rubik SemiBold"/>
                <a:cs typeface="Rubik SemiBold"/>
                <a:sym typeface="Rubik SemiBold"/>
              </a:rPr>
              <a:t>Sulistyo</a:t>
            </a:r>
            <a:endParaRPr sz="3000" dirty="0">
              <a:latin typeface="Rubik SemiBold"/>
              <a:ea typeface="Rubik SemiBold"/>
              <a:cs typeface="Rubik SemiBold"/>
              <a:sym typeface="Rubik SemiBold"/>
            </a:endParaRPr>
          </a:p>
        </p:txBody>
      </p:sp>
      <p:sp>
        <p:nvSpPr>
          <p:cNvPr id="79" name="Google Shape;79;p15"/>
          <p:cNvSpPr txBox="1"/>
          <p:nvPr/>
        </p:nvSpPr>
        <p:spPr>
          <a:xfrm>
            <a:off x="221225" y="2476616"/>
            <a:ext cx="35046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dirty="0">
                <a:latin typeface="Rubik SemiBold"/>
                <a:ea typeface="Rubik SemiBold"/>
                <a:cs typeface="Rubik SemiBold"/>
                <a:sym typeface="Rubik SemiBold"/>
              </a:rPr>
              <a:t>About Me!</a:t>
            </a:r>
            <a:endParaRPr sz="2000" dirty="0">
              <a:latin typeface="Rubik SemiBold"/>
              <a:ea typeface="Rubik SemiBold"/>
              <a:cs typeface="Rubik SemiBold"/>
              <a:sym typeface="Rubik SemiBold"/>
            </a:endParaRPr>
          </a:p>
        </p:txBody>
      </p:sp>
      <p:sp>
        <p:nvSpPr>
          <p:cNvPr id="80" name="Google Shape;80;p15"/>
          <p:cNvSpPr txBox="1"/>
          <p:nvPr/>
        </p:nvSpPr>
        <p:spPr>
          <a:xfrm>
            <a:off x="4815631" y="868600"/>
            <a:ext cx="35046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dirty="0">
                <a:latin typeface="Rubik SemiBold"/>
                <a:ea typeface="Rubik SemiBold"/>
                <a:cs typeface="Rubik SemiBold"/>
                <a:sym typeface="Rubik SemiBold"/>
              </a:rPr>
              <a:t>My Experience</a:t>
            </a:r>
            <a:endParaRPr sz="2000" dirty="0">
              <a:latin typeface="Rubik SemiBold"/>
              <a:ea typeface="Rubik SemiBold"/>
              <a:cs typeface="Rubik SemiBold"/>
              <a:sym typeface="Rubik SemiBold"/>
            </a:endParaRPr>
          </a:p>
        </p:txBody>
      </p:sp>
      <p:sp>
        <p:nvSpPr>
          <p:cNvPr id="81" name="Google Shape;81;p15"/>
          <p:cNvSpPr/>
          <p:nvPr/>
        </p:nvSpPr>
        <p:spPr>
          <a:xfrm>
            <a:off x="5095574" y="1848124"/>
            <a:ext cx="45719" cy="2259301"/>
          </a:xfrm>
          <a:prstGeom prst="rect">
            <a:avLst/>
          </a:prstGeom>
          <a:solidFill>
            <a:schemeClr val="accent5"/>
          </a:solidFill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" name="Google Shape;83;p15"/>
          <p:cNvSpPr/>
          <p:nvPr/>
        </p:nvSpPr>
        <p:spPr>
          <a:xfrm>
            <a:off x="5000625" y="1716050"/>
            <a:ext cx="218400" cy="218400"/>
          </a:xfrm>
          <a:prstGeom prst="ellipse">
            <a:avLst/>
          </a:prstGeom>
          <a:solidFill>
            <a:schemeClr val="accent4"/>
          </a:solidFill>
          <a:ln w="9525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4" name="Google Shape;84;p15"/>
          <p:cNvSpPr/>
          <p:nvPr/>
        </p:nvSpPr>
        <p:spPr>
          <a:xfrm>
            <a:off x="5032093" y="2747325"/>
            <a:ext cx="218400" cy="218400"/>
          </a:xfrm>
          <a:prstGeom prst="ellipse">
            <a:avLst/>
          </a:prstGeom>
          <a:solidFill>
            <a:schemeClr val="accent4"/>
          </a:solidFill>
          <a:ln w="9525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15"/>
          <p:cNvSpPr/>
          <p:nvPr/>
        </p:nvSpPr>
        <p:spPr>
          <a:xfrm>
            <a:off x="5032093" y="3669400"/>
            <a:ext cx="218400" cy="218400"/>
          </a:xfrm>
          <a:prstGeom prst="ellipse">
            <a:avLst/>
          </a:prstGeom>
          <a:solidFill>
            <a:schemeClr val="accent4"/>
          </a:solidFill>
          <a:ln w="9525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86" name="Google Shape;86;p15"/>
          <p:cNvSpPr txBox="1"/>
          <p:nvPr/>
        </p:nvSpPr>
        <p:spPr>
          <a:xfrm>
            <a:off x="5337333" y="3542938"/>
            <a:ext cx="37401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>
                <a:latin typeface="Rubik"/>
                <a:ea typeface="Rubik"/>
                <a:cs typeface="Rubik"/>
                <a:sym typeface="Rubik"/>
              </a:rPr>
              <a:t>Data Analyst with BI Tools</a:t>
            </a:r>
            <a:endParaRPr b="1" dirty="0">
              <a:latin typeface="Rubik"/>
              <a:ea typeface="Rubik"/>
              <a:cs typeface="Rubik"/>
              <a:sym typeface="Rubik"/>
            </a:endParaRPr>
          </a:p>
        </p:txBody>
      </p:sp>
      <p:sp>
        <p:nvSpPr>
          <p:cNvPr id="87" name="Google Shape;87;p15"/>
          <p:cNvSpPr txBox="1"/>
          <p:nvPr/>
        </p:nvSpPr>
        <p:spPr>
          <a:xfrm>
            <a:off x="5327197" y="2616215"/>
            <a:ext cx="3740100" cy="6155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>
                <a:latin typeface="Rubik"/>
                <a:ea typeface="Rubik"/>
                <a:cs typeface="Rubik"/>
                <a:sym typeface="Rubik"/>
              </a:rPr>
              <a:t>Intermediate to Hackathon Data Analyst</a:t>
            </a:r>
            <a:endParaRPr b="1" dirty="0">
              <a:latin typeface="Rubik"/>
              <a:ea typeface="Rubik"/>
              <a:cs typeface="Rubik"/>
              <a:sym typeface="Rubik"/>
            </a:endParaRPr>
          </a:p>
        </p:txBody>
      </p:sp>
      <p:sp>
        <p:nvSpPr>
          <p:cNvPr id="88" name="Google Shape;88;p15"/>
          <p:cNvSpPr txBox="1"/>
          <p:nvPr/>
        </p:nvSpPr>
        <p:spPr>
          <a:xfrm>
            <a:off x="5291114" y="1625150"/>
            <a:ext cx="3740100" cy="6155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>
                <a:latin typeface="Rubik"/>
                <a:ea typeface="Rubik"/>
                <a:cs typeface="Rubik"/>
                <a:sym typeface="Rubik"/>
              </a:rPr>
              <a:t>Project Based Internship – Business Intelligence Analyst</a:t>
            </a:r>
            <a:endParaRPr b="1" dirty="0">
              <a:latin typeface="Rubik"/>
              <a:ea typeface="Rubik"/>
              <a:cs typeface="Rubik"/>
              <a:sym typeface="Rubik"/>
            </a:endParaRPr>
          </a:p>
        </p:txBody>
      </p:sp>
      <p:sp>
        <p:nvSpPr>
          <p:cNvPr id="90" name="Google Shape;90;p15"/>
          <p:cNvSpPr txBox="1"/>
          <p:nvPr/>
        </p:nvSpPr>
        <p:spPr>
          <a:xfrm>
            <a:off x="92437" y="2969216"/>
            <a:ext cx="4413425" cy="1908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latin typeface="Rubik"/>
                <a:ea typeface="Rubik"/>
                <a:cs typeface="Rubik"/>
                <a:sym typeface="Rubik"/>
              </a:rPr>
              <a:t>Bachelor of Informatics Engineering with an interest in Data Analytics and Business Intelligence. Experienced in data processing and reporting using SQL, MySQL, Microsoft Excel, and Power BI. In this project, I utilized Google </a:t>
            </a:r>
            <a:r>
              <a:rPr lang="en-US" sz="1400" dirty="0" err="1">
                <a:latin typeface="Rubik"/>
                <a:ea typeface="Rubik"/>
                <a:cs typeface="Rubik"/>
                <a:sym typeface="Rubik"/>
              </a:rPr>
              <a:t>BigQuery</a:t>
            </a:r>
            <a:r>
              <a:rPr lang="en-US" sz="1400" dirty="0">
                <a:latin typeface="Rubik"/>
                <a:ea typeface="Rubik"/>
                <a:cs typeface="Rubik"/>
                <a:sym typeface="Rubik"/>
              </a:rPr>
              <a:t> and Looker Studio to analyze sales data and build an interactive dashboard to support business decision-making.</a:t>
            </a:r>
          </a:p>
        </p:txBody>
      </p:sp>
      <p:pic>
        <p:nvPicPr>
          <p:cNvPr id="9" name="Picture 8" descr="A person in a suit&#10;&#10;Description automatically generated">
            <a:extLst>
              <a:ext uri="{FF2B5EF4-FFF2-40B4-BE49-F238E27FC236}">
                <a16:creationId xmlns:a16="http://schemas.microsoft.com/office/drawing/2014/main" id="{8A110BCD-51D6-0934-EB10-C5935E540A34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3418" t="5991" r="3418" b="21549"/>
          <a:stretch>
            <a:fillRect/>
          </a:stretch>
        </p:blipFill>
        <p:spPr>
          <a:xfrm>
            <a:off x="361899" y="395549"/>
            <a:ext cx="2046001" cy="2046001"/>
          </a:xfrm>
          <a:custGeom>
            <a:avLst/>
            <a:gdLst>
              <a:gd name="connsiteX0" fmla="*/ 1863500 w 3727000"/>
              <a:gd name="connsiteY0" fmla="*/ 0 h 3727000"/>
              <a:gd name="connsiteX1" fmla="*/ 3727000 w 3727000"/>
              <a:gd name="connsiteY1" fmla="*/ 1863500 h 3727000"/>
              <a:gd name="connsiteX2" fmla="*/ 1863500 w 3727000"/>
              <a:gd name="connsiteY2" fmla="*/ 3727000 h 3727000"/>
              <a:gd name="connsiteX3" fmla="*/ 0 w 3727000"/>
              <a:gd name="connsiteY3" fmla="*/ 1863500 h 3727000"/>
              <a:gd name="connsiteX4" fmla="*/ 1863500 w 3727000"/>
              <a:gd name="connsiteY4" fmla="*/ 0 h 3727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727000" h="3727000">
                <a:moveTo>
                  <a:pt x="1863500" y="0"/>
                </a:moveTo>
                <a:cubicBezTo>
                  <a:pt x="2892683" y="0"/>
                  <a:pt x="3727000" y="834317"/>
                  <a:pt x="3727000" y="1863500"/>
                </a:cubicBezTo>
                <a:cubicBezTo>
                  <a:pt x="3727000" y="2892683"/>
                  <a:pt x="2892683" y="3727000"/>
                  <a:pt x="1863500" y="3727000"/>
                </a:cubicBezTo>
                <a:cubicBezTo>
                  <a:pt x="834317" y="3727000"/>
                  <a:pt x="0" y="2892683"/>
                  <a:pt x="0" y="1863500"/>
                </a:cubicBezTo>
                <a:cubicBezTo>
                  <a:pt x="0" y="834317"/>
                  <a:pt x="834317" y="0"/>
                  <a:pt x="1863500" y="0"/>
                </a:cubicBezTo>
                <a:close/>
              </a:path>
            </a:pathLst>
          </a:custGeom>
        </p:spPr>
      </p:pic>
      <p:sp>
        <p:nvSpPr>
          <p:cNvPr id="3" name="Google Shape;88;p15">
            <a:extLst>
              <a:ext uri="{FF2B5EF4-FFF2-40B4-BE49-F238E27FC236}">
                <a16:creationId xmlns:a16="http://schemas.microsoft.com/office/drawing/2014/main" id="{A7F6570D-7893-D9D6-94AE-A6222A3D50A5}"/>
              </a:ext>
            </a:extLst>
          </p:cNvPr>
          <p:cNvSpPr txBox="1"/>
          <p:nvPr/>
        </p:nvSpPr>
        <p:spPr>
          <a:xfrm>
            <a:off x="5337333" y="2254308"/>
            <a:ext cx="3740100" cy="3539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 dirty="0">
                <a:latin typeface="Rubik"/>
                <a:ea typeface="Rubik"/>
                <a:cs typeface="Rubik"/>
                <a:sym typeface="Rubik"/>
              </a:rPr>
              <a:t>Bank Muamalat x RAKAMIN, May – Jun 2026</a:t>
            </a:r>
            <a:endParaRPr sz="1050" dirty="0">
              <a:latin typeface="Rubik"/>
              <a:ea typeface="Rubik"/>
              <a:cs typeface="Rubik"/>
              <a:sym typeface="Rubik"/>
            </a:endParaRPr>
          </a:p>
        </p:txBody>
      </p:sp>
      <p:sp>
        <p:nvSpPr>
          <p:cNvPr id="4" name="Google Shape;88;p15">
            <a:extLst>
              <a:ext uri="{FF2B5EF4-FFF2-40B4-BE49-F238E27FC236}">
                <a16:creationId xmlns:a16="http://schemas.microsoft.com/office/drawing/2014/main" id="{7CDDFB50-9461-2E72-1282-B89EA5C0162D}"/>
              </a:ext>
            </a:extLst>
          </p:cNvPr>
          <p:cNvSpPr txBox="1"/>
          <p:nvPr/>
        </p:nvSpPr>
        <p:spPr>
          <a:xfrm>
            <a:off x="5370617" y="3240139"/>
            <a:ext cx="3740100" cy="3539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 dirty="0">
                <a:latin typeface="Rubik"/>
                <a:ea typeface="Rubik"/>
                <a:cs typeface="Rubik"/>
                <a:sym typeface="Rubik"/>
              </a:rPr>
              <a:t>FGA KOMDIGI x DQLab, Aug – Dec 2025</a:t>
            </a:r>
            <a:endParaRPr sz="1050" dirty="0">
              <a:latin typeface="Rubik"/>
              <a:ea typeface="Rubik"/>
              <a:cs typeface="Rubik"/>
              <a:sym typeface="Rubik"/>
            </a:endParaRPr>
          </a:p>
        </p:txBody>
      </p:sp>
      <p:sp>
        <p:nvSpPr>
          <p:cNvPr id="5" name="Google Shape;88;p15">
            <a:extLst>
              <a:ext uri="{FF2B5EF4-FFF2-40B4-BE49-F238E27FC236}">
                <a16:creationId xmlns:a16="http://schemas.microsoft.com/office/drawing/2014/main" id="{AB59889D-ABDE-33CA-F352-CDE24416481A}"/>
              </a:ext>
            </a:extLst>
          </p:cNvPr>
          <p:cNvSpPr txBox="1"/>
          <p:nvPr/>
        </p:nvSpPr>
        <p:spPr>
          <a:xfrm>
            <a:off x="5337333" y="3885176"/>
            <a:ext cx="3740100" cy="5078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 dirty="0">
                <a:latin typeface="Rubik"/>
                <a:ea typeface="Rubik"/>
                <a:cs typeface="Rubik"/>
                <a:sym typeface="Rubik"/>
              </a:rPr>
              <a:t>Studi Independent Kampus Merdeka x Metrodata Academy, Feb – Jun 2023</a:t>
            </a:r>
            <a:endParaRPr sz="1050" dirty="0">
              <a:latin typeface="Rubik"/>
              <a:ea typeface="Rubik"/>
              <a:cs typeface="Rubik"/>
              <a:sym typeface="Rubik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95;p16"/>
          <p:cNvPicPr preferRelativeResize="0"/>
          <p:nvPr/>
        </p:nvPicPr>
        <p:blipFill>
          <a:blip r:embed="rId3">
            <a:alphaModFix amt="5000"/>
          </a:blip>
          <a:stretch>
            <a:fillRect/>
          </a:stretch>
        </p:blipFill>
        <p:spPr>
          <a:xfrm>
            <a:off x="0" y="0"/>
            <a:ext cx="9144001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6"/>
          <p:cNvSpPr txBox="1"/>
          <p:nvPr/>
        </p:nvSpPr>
        <p:spPr>
          <a:xfrm>
            <a:off x="418654" y="722544"/>
            <a:ext cx="8463000" cy="954300"/>
          </a:xfrm>
          <a:prstGeom prst="rect">
            <a:avLst/>
          </a:prstGeom>
          <a:noFill/>
          <a:ln>
            <a:noFill/>
          </a:ln>
          <a:effectLst>
            <a:outerShdw blurRad="57150" dist="19050" dir="2820000" algn="bl" rotWithShape="0">
              <a:srgbClr val="B7B7B7">
                <a:alpha val="86000"/>
              </a:srgbClr>
            </a:outerShdw>
          </a:effectLst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0" b="1" dirty="0">
                <a:latin typeface="Rubik"/>
                <a:ea typeface="Rubik"/>
                <a:cs typeface="Rubik"/>
                <a:sym typeface="Rubik"/>
              </a:rPr>
              <a:t>LATAR BELAKANG</a:t>
            </a:r>
            <a:endParaRPr sz="5000" b="1" dirty="0">
              <a:latin typeface="Rubik"/>
              <a:ea typeface="Rubik"/>
              <a:cs typeface="Rubik"/>
              <a:sym typeface="Rubik"/>
            </a:endParaRPr>
          </a:p>
        </p:txBody>
      </p:sp>
      <p:pic>
        <p:nvPicPr>
          <p:cNvPr id="97" name="Google Shape;97;p16"/>
          <p:cNvPicPr preferRelativeResize="0"/>
          <p:nvPr/>
        </p:nvPicPr>
        <p:blipFill rotWithShape="1">
          <a:blip r:embed="rId4">
            <a:alphaModFix/>
          </a:blip>
          <a:srcRect t="5659" b="5650"/>
          <a:stretch/>
        </p:blipFill>
        <p:spPr>
          <a:xfrm>
            <a:off x="7317600" y="185625"/>
            <a:ext cx="1399902" cy="541300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16"/>
          <p:cNvSpPr txBox="1"/>
          <p:nvPr/>
        </p:nvSpPr>
        <p:spPr>
          <a:xfrm>
            <a:off x="418654" y="2044116"/>
            <a:ext cx="8541052" cy="1908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just"/>
            <a:r>
              <a:rPr lang="en-ID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PT Sejahtera </a:t>
            </a:r>
            <a:r>
              <a:rPr lang="en-ID" sz="16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Bersama</a:t>
            </a:r>
            <a:r>
              <a:rPr lang="en-ID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merupakan</a:t>
            </a:r>
            <a:r>
              <a:rPr lang="en-ID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perusahaan</a:t>
            </a:r>
            <a:r>
              <a:rPr lang="en-ID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yang </a:t>
            </a:r>
            <a:r>
              <a:rPr lang="en-ID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menjual</a:t>
            </a:r>
            <a:r>
              <a:rPr lang="en-ID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berbagai</a:t>
            </a:r>
            <a:r>
              <a:rPr lang="en-ID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produk</a:t>
            </a:r>
            <a:r>
              <a:rPr lang="en-ID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digital </a:t>
            </a:r>
            <a:r>
              <a:rPr lang="en-ID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seperti</a:t>
            </a:r>
            <a:r>
              <a:rPr lang="en-ID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Training Videos, eBooks, Drone, Drone Kits, Blueprints, Robotics dan Robotics Kits. </a:t>
            </a:r>
            <a:r>
              <a:rPr lang="en-ID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Manajemen</a:t>
            </a:r>
            <a:r>
              <a:rPr lang="en-ID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ingin</a:t>
            </a:r>
            <a:r>
              <a:rPr lang="en-ID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memahami</a:t>
            </a:r>
            <a:r>
              <a:rPr lang="en-ID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performa</a:t>
            </a:r>
            <a:r>
              <a:rPr lang="en-ID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penjualan</a:t>
            </a:r>
            <a:r>
              <a:rPr lang="en-ID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perusahaan</a:t>
            </a:r>
            <a:r>
              <a:rPr lang="en-ID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selama</a:t>
            </a:r>
            <a:r>
              <a:rPr lang="en-ID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periode</a:t>
            </a:r>
            <a:r>
              <a:rPr lang="en-ID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Januari</a:t>
            </a:r>
            <a:r>
              <a:rPr lang="en-ID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2020 </a:t>
            </a:r>
            <a:r>
              <a:rPr lang="en-ID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hingga</a:t>
            </a:r>
            <a:r>
              <a:rPr lang="en-ID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Desember</a:t>
            </a:r>
            <a:r>
              <a:rPr lang="en-ID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2021 </a:t>
            </a:r>
            <a:r>
              <a:rPr lang="en-ID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untuk</a:t>
            </a:r>
            <a:r>
              <a:rPr lang="en-ID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mengetahui</a:t>
            </a:r>
            <a:r>
              <a:rPr lang="en-ID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produk</a:t>
            </a:r>
            <a:r>
              <a:rPr lang="en-ID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dan wilayah yang </a:t>
            </a:r>
            <a:r>
              <a:rPr lang="en-ID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memberikan</a:t>
            </a:r>
            <a:r>
              <a:rPr lang="en-ID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kontribusi</a:t>
            </a:r>
            <a:r>
              <a:rPr lang="en-ID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terbesar</a:t>
            </a:r>
            <a:r>
              <a:rPr lang="en-ID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terhadap</a:t>
            </a:r>
            <a:r>
              <a:rPr lang="en-ID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pendapatan</a:t>
            </a:r>
            <a:r>
              <a:rPr lang="en-ID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perusahaan</a:t>
            </a:r>
            <a:r>
              <a:rPr lang="en-ID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r>
              <a:rPr lang="en-ID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Untuk</a:t>
            </a:r>
            <a:r>
              <a:rPr lang="en-ID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mendukung</a:t>
            </a:r>
            <a:r>
              <a:rPr lang="en-ID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pengambilan</a:t>
            </a:r>
            <a:r>
              <a:rPr lang="en-ID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keputusan</a:t>
            </a:r>
            <a:r>
              <a:rPr lang="en-ID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bisnis</a:t>
            </a:r>
            <a:r>
              <a:rPr lang="en-ID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D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dilakukan</a:t>
            </a:r>
            <a:r>
              <a:rPr lang="en-ID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analisis</a:t>
            </a:r>
            <a:r>
              <a:rPr lang="en-ID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data </a:t>
            </a:r>
            <a:r>
              <a:rPr lang="en-ID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transaksi</a:t>
            </a:r>
            <a:r>
              <a:rPr lang="en-ID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pelanggan</a:t>
            </a:r>
            <a:r>
              <a:rPr lang="en-ID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menggunakan</a:t>
            </a:r>
            <a:r>
              <a:rPr lang="en-ID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BigQuery</a:t>
            </a:r>
            <a:r>
              <a:rPr lang="en-ID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dan </a:t>
            </a:r>
            <a:r>
              <a:rPr lang="en-ID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visualisasi</a:t>
            </a:r>
            <a:r>
              <a:rPr lang="en-ID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dashboard </a:t>
            </a:r>
            <a:r>
              <a:rPr lang="en-ID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menggunakan</a:t>
            </a:r>
            <a:r>
              <a:rPr lang="en-ID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Looker Studio.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95;p16"/>
          <p:cNvPicPr preferRelativeResize="0"/>
          <p:nvPr/>
        </p:nvPicPr>
        <p:blipFill>
          <a:blip r:embed="rId3">
            <a:alphaModFix amt="5000"/>
          </a:blip>
          <a:stretch>
            <a:fillRect/>
          </a:stretch>
        </p:blipFill>
        <p:spPr>
          <a:xfrm>
            <a:off x="0" y="0"/>
            <a:ext cx="9144001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6"/>
          <p:cNvSpPr txBox="1"/>
          <p:nvPr/>
        </p:nvSpPr>
        <p:spPr>
          <a:xfrm>
            <a:off x="418654" y="722544"/>
            <a:ext cx="8463000" cy="954300"/>
          </a:xfrm>
          <a:prstGeom prst="rect">
            <a:avLst/>
          </a:prstGeom>
          <a:noFill/>
          <a:ln>
            <a:noFill/>
          </a:ln>
          <a:effectLst>
            <a:outerShdw blurRad="57150" dist="19050" dir="2820000" algn="bl" rotWithShape="0">
              <a:srgbClr val="B7B7B7">
                <a:alpha val="86000"/>
              </a:srgbClr>
            </a:outerShdw>
          </a:effectLst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0" b="1" dirty="0">
                <a:latin typeface="Rubik"/>
                <a:ea typeface="Rubik"/>
                <a:cs typeface="Rubik"/>
                <a:sym typeface="Rubik"/>
              </a:rPr>
              <a:t>TUJUAN ANALISIS</a:t>
            </a:r>
            <a:endParaRPr sz="5000" b="1" dirty="0">
              <a:latin typeface="Rubik"/>
              <a:ea typeface="Rubik"/>
              <a:cs typeface="Rubik"/>
              <a:sym typeface="Rubik"/>
            </a:endParaRPr>
          </a:p>
        </p:txBody>
      </p:sp>
      <p:pic>
        <p:nvPicPr>
          <p:cNvPr id="97" name="Google Shape;97;p16"/>
          <p:cNvPicPr preferRelativeResize="0"/>
          <p:nvPr/>
        </p:nvPicPr>
        <p:blipFill rotWithShape="1">
          <a:blip r:embed="rId4">
            <a:alphaModFix/>
          </a:blip>
          <a:srcRect t="5659" b="5650"/>
          <a:stretch/>
        </p:blipFill>
        <p:spPr>
          <a:xfrm>
            <a:off x="7317600" y="185625"/>
            <a:ext cx="1399902" cy="541300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16"/>
          <p:cNvSpPr txBox="1"/>
          <p:nvPr/>
        </p:nvSpPr>
        <p:spPr>
          <a:xfrm>
            <a:off x="346147" y="1856546"/>
            <a:ext cx="8608014" cy="21544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en-ID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Analisis</a:t>
            </a:r>
            <a:r>
              <a:rPr lang="en-ID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dilakukan</a:t>
            </a:r>
            <a:r>
              <a:rPr lang="en-ID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untuk</a:t>
            </a:r>
            <a:r>
              <a:rPr lang="en-ID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menjawab</a:t>
            </a:r>
            <a:r>
              <a:rPr lang="en-ID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beberapa</a:t>
            </a:r>
            <a:r>
              <a:rPr lang="en-ID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pertanyaan</a:t>
            </a:r>
            <a:r>
              <a:rPr lang="en-ID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bisnis</a:t>
            </a:r>
            <a:r>
              <a:rPr lang="en-ID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dari</a:t>
            </a:r>
            <a:r>
              <a:rPr lang="en-ID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para stakeholder, </a:t>
            </a:r>
            <a:r>
              <a:rPr lang="en-ID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sebagai</a:t>
            </a:r>
            <a:r>
              <a:rPr lang="en-ID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berikut</a:t>
            </a:r>
            <a:r>
              <a:rPr lang="en-ID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endParaRPr lang="en-ID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+mj-lt"/>
              <a:buAutoNum type="arabicPeriod"/>
            </a:pPr>
            <a:r>
              <a:rPr lang="en-ID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Berapa</a:t>
            </a:r>
            <a:r>
              <a:rPr lang="en-ID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total </a:t>
            </a:r>
            <a:r>
              <a:rPr lang="en-ID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penjualan</a:t>
            </a:r>
            <a:r>
              <a:rPr lang="en-ID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yang </a:t>
            </a:r>
            <a:r>
              <a:rPr lang="en-ID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dihasilkan</a:t>
            </a:r>
            <a:r>
              <a:rPr lang="en-ID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perusahaan</a:t>
            </a:r>
            <a:r>
              <a:rPr lang="en-ID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? </a:t>
            </a:r>
          </a:p>
          <a:p>
            <a:pPr>
              <a:buFont typeface="+mj-lt"/>
              <a:buAutoNum type="arabicPeriod"/>
            </a:pPr>
            <a:r>
              <a:rPr lang="en-ID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Kategori</a:t>
            </a:r>
            <a:r>
              <a:rPr lang="en-ID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produk</a:t>
            </a:r>
            <a:r>
              <a:rPr lang="en-ID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apa</a:t>
            </a:r>
            <a:r>
              <a:rPr lang="en-ID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yang </a:t>
            </a:r>
            <a:r>
              <a:rPr lang="en-ID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memberikan</a:t>
            </a:r>
            <a:r>
              <a:rPr lang="en-ID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kontribusi</a:t>
            </a:r>
            <a:r>
              <a:rPr lang="en-ID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penjualan</a:t>
            </a:r>
            <a:r>
              <a:rPr lang="en-ID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terbesar</a:t>
            </a:r>
            <a:r>
              <a:rPr lang="en-ID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? </a:t>
            </a:r>
          </a:p>
          <a:p>
            <a:pPr>
              <a:buFont typeface="+mj-lt"/>
              <a:buAutoNum type="arabicPeriod"/>
            </a:pPr>
            <a:r>
              <a:rPr lang="en-ID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Kategori</a:t>
            </a:r>
            <a:r>
              <a:rPr lang="en-ID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produk</a:t>
            </a:r>
            <a:r>
              <a:rPr lang="en-ID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apa</a:t>
            </a:r>
            <a:r>
              <a:rPr lang="en-ID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yang </a:t>
            </a:r>
            <a:r>
              <a:rPr lang="en-ID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memiliki</a:t>
            </a:r>
            <a:r>
              <a:rPr lang="en-ID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jumlah</a:t>
            </a:r>
            <a:r>
              <a:rPr lang="en-ID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penjualan</a:t>
            </a:r>
            <a:r>
              <a:rPr lang="en-ID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(quantity) </a:t>
            </a:r>
            <a:r>
              <a:rPr lang="en-ID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tertinggi</a:t>
            </a:r>
            <a:r>
              <a:rPr lang="en-ID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? </a:t>
            </a:r>
          </a:p>
          <a:p>
            <a:pPr>
              <a:buFont typeface="+mj-lt"/>
              <a:buAutoNum type="arabicPeriod"/>
            </a:pPr>
            <a:r>
              <a:rPr lang="en-ID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Kota mana yang </a:t>
            </a:r>
            <a:r>
              <a:rPr lang="en-ID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memberikan</a:t>
            </a:r>
            <a:r>
              <a:rPr lang="en-ID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kontribusi</a:t>
            </a:r>
            <a:r>
              <a:rPr lang="en-ID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sales </a:t>
            </a:r>
            <a:r>
              <a:rPr lang="en-ID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terbesar</a:t>
            </a:r>
            <a:r>
              <a:rPr lang="en-ID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? </a:t>
            </a:r>
          </a:p>
          <a:p>
            <a:pPr>
              <a:buFont typeface="+mj-lt"/>
              <a:buAutoNum type="arabicPeriod"/>
            </a:pPr>
            <a:r>
              <a:rPr lang="en-ID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Bagaimana</a:t>
            </a:r>
            <a:r>
              <a:rPr lang="en-ID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pola</a:t>
            </a:r>
            <a:r>
              <a:rPr lang="en-ID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pembelian</a:t>
            </a:r>
            <a:r>
              <a:rPr lang="en-ID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pelanggan</a:t>
            </a:r>
            <a:r>
              <a:rPr lang="en-ID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berdasarkan</a:t>
            </a:r>
            <a:r>
              <a:rPr lang="en-ID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kategori</a:t>
            </a:r>
            <a:r>
              <a:rPr lang="en-ID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produk</a:t>
            </a:r>
            <a:r>
              <a:rPr lang="en-ID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? </a:t>
            </a:r>
          </a:p>
          <a:p>
            <a:pPr>
              <a:buFont typeface="+mj-lt"/>
              <a:buAutoNum type="arabicPeriod"/>
            </a:pPr>
            <a:r>
              <a:rPr lang="en-ID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Strategi </a:t>
            </a:r>
            <a:r>
              <a:rPr lang="en-ID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apa</a:t>
            </a:r>
            <a:r>
              <a:rPr lang="en-ID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yang </a:t>
            </a:r>
            <a:r>
              <a:rPr lang="en-ID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dapat</a:t>
            </a:r>
            <a:r>
              <a:rPr lang="en-ID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dilakukan</a:t>
            </a:r>
            <a:r>
              <a:rPr lang="en-ID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perusahaan</a:t>
            </a:r>
            <a:r>
              <a:rPr lang="en-ID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untuk</a:t>
            </a:r>
            <a:r>
              <a:rPr lang="en-ID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mempertahankan</a:t>
            </a:r>
            <a:r>
              <a:rPr lang="en-ID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atau</a:t>
            </a:r>
            <a:r>
              <a:rPr lang="en-ID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meningkatkan</a:t>
            </a:r>
            <a:r>
              <a:rPr lang="en-ID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penjualan</a:t>
            </a:r>
            <a:r>
              <a:rPr lang="en-ID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21717087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95;p16"/>
          <p:cNvPicPr preferRelativeResize="0"/>
          <p:nvPr/>
        </p:nvPicPr>
        <p:blipFill>
          <a:blip r:embed="rId3">
            <a:alphaModFix amt="5000"/>
          </a:blip>
          <a:stretch>
            <a:fillRect/>
          </a:stretch>
        </p:blipFill>
        <p:spPr>
          <a:xfrm>
            <a:off x="0" y="0"/>
            <a:ext cx="9144001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97" name="Google Shape;97;p16"/>
          <p:cNvPicPr preferRelativeResize="0"/>
          <p:nvPr/>
        </p:nvPicPr>
        <p:blipFill rotWithShape="1">
          <a:blip r:embed="rId4">
            <a:alphaModFix/>
          </a:blip>
          <a:srcRect t="5659" b="5650"/>
          <a:stretch/>
        </p:blipFill>
        <p:spPr>
          <a:xfrm>
            <a:off x="7317600" y="185625"/>
            <a:ext cx="1399902" cy="541300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5FE8609-1E8E-E875-64EB-BAB6452470C3}"/>
              </a:ext>
            </a:extLst>
          </p:cNvPr>
          <p:cNvSpPr txBox="1"/>
          <p:nvPr/>
        </p:nvSpPr>
        <p:spPr>
          <a:xfrm>
            <a:off x="123987" y="1554757"/>
            <a:ext cx="3440623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D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 yang </a:t>
            </a:r>
            <a:r>
              <a:rPr lang="en-ID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Digunakan</a:t>
            </a:r>
            <a:endParaRPr lang="en-ID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D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Analisis</a:t>
            </a:r>
            <a:r>
              <a:rPr lang="en-ID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dilakukan</a:t>
            </a:r>
            <a:r>
              <a:rPr lang="en-ID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menggunakan</a:t>
            </a:r>
            <a:r>
              <a:rPr lang="en-ID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4 </a:t>
            </a:r>
            <a:r>
              <a:rPr lang="en-ID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tabel</a:t>
            </a:r>
            <a:r>
              <a:rPr lang="en-ID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342900" indent="-342900">
              <a:buFont typeface="+mj-lt"/>
              <a:buAutoNum type="arabicPeriod"/>
            </a:pPr>
            <a:r>
              <a:rPr lang="en-ID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Customers </a:t>
            </a:r>
          </a:p>
          <a:p>
            <a:pPr marL="342900" indent="-342900">
              <a:buFont typeface="+mj-lt"/>
              <a:buAutoNum type="arabicPeriod"/>
            </a:pPr>
            <a:r>
              <a:rPr lang="en-ID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Orders </a:t>
            </a:r>
          </a:p>
          <a:p>
            <a:pPr marL="342900" indent="-342900">
              <a:buFont typeface="+mj-lt"/>
              <a:buAutoNum type="arabicPeriod"/>
            </a:pPr>
            <a:r>
              <a:rPr lang="en-ID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Products </a:t>
            </a:r>
          </a:p>
          <a:p>
            <a:pPr marL="342900" indent="-342900">
              <a:buFont typeface="+mj-lt"/>
              <a:buAutoNum type="arabicPeriod"/>
            </a:pPr>
            <a:r>
              <a:rPr lang="en-ID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Product Category</a:t>
            </a:r>
          </a:p>
        </p:txBody>
      </p:sp>
      <p:sp>
        <p:nvSpPr>
          <p:cNvPr id="6" name="Google Shape;96;p16">
            <a:extLst>
              <a:ext uri="{FF2B5EF4-FFF2-40B4-BE49-F238E27FC236}">
                <a16:creationId xmlns:a16="http://schemas.microsoft.com/office/drawing/2014/main" id="{EE96F51F-C4E4-288D-5E54-252B0A376B9D}"/>
              </a:ext>
            </a:extLst>
          </p:cNvPr>
          <p:cNvSpPr txBox="1"/>
          <p:nvPr/>
        </p:nvSpPr>
        <p:spPr>
          <a:xfrm>
            <a:off x="340500" y="325520"/>
            <a:ext cx="8463000" cy="954300"/>
          </a:xfrm>
          <a:prstGeom prst="rect">
            <a:avLst/>
          </a:prstGeom>
          <a:noFill/>
          <a:ln>
            <a:noFill/>
          </a:ln>
          <a:effectLst>
            <a:outerShdw blurRad="57150" dist="19050" dir="2820000" algn="bl" rotWithShape="0">
              <a:srgbClr val="B7B7B7">
                <a:alpha val="86000"/>
              </a:srgbClr>
            </a:outerShdw>
          </a:effectLst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0" b="1" dirty="0">
                <a:latin typeface="Rubik"/>
                <a:ea typeface="Rubik"/>
                <a:cs typeface="Rubik"/>
                <a:sym typeface="Rubik"/>
              </a:rPr>
              <a:t>DATASET</a:t>
            </a:r>
            <a:endParaRPr sz="5000" b="1" dirty="0">
              <a:latin typeface="Rubik"/>
              <a:ea typeface="Rubik"/>
              <a:cs typeface="Rubik"/>
              <a:sym typeface="Rubik"/>
            </a:endParaRPr>
          </a:p>
        </p:txBody>
      </p:sp>
      <p:pic>
        <p:nvPicPr>
          <p:cNvPr id="8" name="Picture 7" descr="A screenshot of a computer&#10;&#10;Description automatically generated">
            <a:extLst>
              <a:ext uri="{FF2B5EF4-FFF2-40B4-BE49-F238E27FC236}">
                <a16:creationId xmlns:a16="http://schemas.microsoft.com/office/drawing/2014/main" id="{0FA92C24-52C8-32E3-E0E5-9A58CD8219E3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r="277" b="9896"/>
          <a:stretch/>
        </p:blipFill>
        <p:spPr>
          <a:xfrm>
            <a:off x="3081235" y="1191946"/>
            <a:ext cx="5480204" cy="3262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83843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95;p16"/>
          <p:cNvPicPr preferRelativeResize="0"/>
          <p:nvPr/>
        </p:nvPicPr>
        <p:blipFill>
          <a:blip r:embed="rId3">
            <a:alphaModFix amt="5000"/>
          </a:blip>
          <a:stretch>
            <a:fillRect/>
          </a:stretch>
        </p:blipFill>
        <p:spPr>
          <a:xfrm>
            <a:off x="0" y="0"/>
            <a:ext cx="9144001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97" name="Google Shape;97;p16"/>
          <p:cNvPicPr preferRelativeResize="0"/>
          <p:nvPr/>
        </p:nvPicPr>
        <p:blipFill rotWithShape="1">
          <a:blip r:embed="rId4">
            <a:alphaModFix/>
          </a:blip>
          <a:srcRect t="5659" b="5650"/>
          <a:stretch/>
        </p:blipFill>
        <p:spPr>
          <a:xfrm>
            <a:off x="7317600" y="185625"/>
            <a:ext cx="1399902" cy="541300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5FE8609-1E8E-E875-64EB-BAB6452470C3}"/>
              </a:ext>
            </a:extLst>
          </p:cNvPr>
          <p:cNvSpPr txBox="1"/>
          <p:nvPr/>
        </p:nvSpPr>
        <p:spPr>
          <a:xfrm>
            <a:off x="169871" y="886185"/>
            <a:ext cx="880425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D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Keempat</a:t>
            </a:r>
            <a:r>
              <a:rPr lang="en-ID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tabel</a:t>
            </a:r>
            <a:r>
              <a:rPr lang="en-ID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digabungkan</a:t>
            </a:r>
            <a:r>
              <a:rPr lang="en-ID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menjadi</a:t>
            </a:r>
            <a:r>
              <a:rPr lang="en-ID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satu</a:t>
            </a:r>
            <a:r>
              <a:rPr lang="en-ID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master table </a:t>
            </a:r>
            <a:r>
              <a:rPr lang="en-ID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untuk</a:t>
            </a:r>
            <a:r>
              <a:rPr lang="en-ID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menghasilkan</a:t>
            </a:r>
            <a:r>
              <a:rPr lang="en-ID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informasi</a:t>
            </a:r>
            <a:r>
              <a:rPr lang="en-ID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ID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5DC8877-749D-6671-AA1A-332EB2AAE37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9754" y="1414777"/>
            <a:ext cx="8403514" cy="33051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76725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" name="Google Shape;103;p17"/>
          <p:cNvPicPr preferRelativeResize="0"/>
          <p:nvPr/>
        </p:nvPicPr>
        <p:blipFill>
          <a:blip r:embed="rId3">
            <a:alphaModFix amt="5000"/>
          </a:blip>
          <a:stretch>
            <a:fillRect/>
          </a:stretch>
        </p:blipFill>
        <p:spPr>
          <a:xfrm>
            <a:off x="0" y="0"/>
            <a:ext cx="9144001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17"/>
          <p:cNvSpPr txBox="1"/>
          <p:nvPr/>
        </p:nvSpPr>
        <p:spPr>
          <a:xfrm>
            <a:off x="260969" y="72705"/>
            <a:ext cx="8463000" cy="954300"/>
          </a:xfrm>
          <a:prstGeom prst="rect">
            <a:avLst/>
          </a:prstGeom>
          <a:noFill/>
          <a:ln>
            <a:noFill/>
          </a:ln>
          <a:effectLst>
            <a:outerShdw blurRad="57150" dist="19050" dir="2820000" algn="bl" rotWithShape="0">
              <a:srgbClr val="B7B7B7">
                <a:alpha val="86000"/>
              </a:srgbClr>
            </a:outerShdw>
          </a:effectLst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0" b="1" dirty="0">
                <a:latin typeface="Rubik"/>
                <a:ea typeface="Rubik"/>
                <a:cs typeface="Rubik"/>
                <a:sym typeface="Rubik"/>
              </a:rPr>
              <a:t>DASHBOARD</a:t>
            </a:r>
            <a:endParaRPr sz="5000" b="1" dirty="0">
              <a:latin typeface="Rubik"/>
              <a:ea typeface="Rubik"/>
              <a:cs typeface="Rubik"/>
              <a:sym typeface="Rubik"/>
            </a:endParaRPr>
          </a:p>
        </p:txBody>
      </p:sp>
      <p:pic>
        <p:nvPicPr>
          <p:cNvPr id="105" name="Google Shape;105;p17"/>
          <p:cNvPicPr preferRelativeResize="0"/>
          <p:nvPr/>
        </p:nvPicPr>
        <p:blipFill rotWithShape="1">
          <a:blip r:embed="rId4">
            <a:alphaModFix/>
          </a:blip>
          <a:srcRect t="5659" b="5650"/>
          <a:stretch/>
        </p:blipFill>
        <p:spPr>
          <a:xfrm>
            <a:off x="7317600" y="185625"/>
            <a:ext cx="1399902" cy="541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6D37CB29-5D88-D195-5677-B4EF9369D8D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239" y="913174"/>
            <a:ext cx="6341806" cy="4157621"/>
          </a:xfrm>
          <a:prstGeom prst="rect">
            <a:avLst/>
          </a:prstGeom>
        </p:spPr>
      </p:pic>
      <p:sp>
        <p:nvSpPr>
          <p:cNvPr id="4" name="Rectangle: Rounded Corners 3">
            <a:hlinkClick r:id="rId6"/>
            <a:extLst>
              <a:ext uri="{FF2B5EF4-FFF2-40B4-BE49-F238E27FC236}">
                <a16:creationId xmlns:a16="http://schemas.microsoft.com/office/drawing/2014/main" id="{0F6118E3-E36E-71C5-9AAA-47477426E04F}"/>
              </a:ext>
            </a:extLst>
          </p:cNvPr>
          <p:cNvSpPr/>
          <p:nvPr/>
        </p:nvSpPr>
        <p:spPr>
          <a:xfrm>
            <a:off x="6828503" y="4567043"/>
            <a:ext cx="2096073" cy="390832"/>
          </a:xfrm>
          <a:prstGeom prst="roundRect">
            <a:avLst/>
          </a:prstGeom>
          <a:solidFill>
            <a:srgbClr val="4E34A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Go to Looker Studio</a:t>
            </a:r>
            <a:endParaRPr lang="en-ID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" name="Google Shape;103;p17"/>
          <p:cNvPicPr preferRelativeResize="0"/>
          <p:nvPr/>
        </p:nvPicPr>
        <p:blipFill>
          <a:blip r:embed="rId3">
            <a:alphaModFix amt="5000"/>
          </a:blip>
          <a:stretch>
            <a:fillRect/>
          </a:stretch>
        </p:blipFill>
        <p:spPr>
          <a:xfrm>
            <a:off x="0" y="0"/>
            <a:ext cx="9144001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" name="Google Shape;105;p17"/>
          <p:cNvPicPr preferRelativeResize="0"/>
          <p:nvPr/>
        </p:nvPicPr>
        <p:blipFill rotWithShape="1">
          <a:blip r:embed="rId4">
            <a:alphaModFix/>
          </a:blip>
          <a:srcRect t="5659" b="5650"/>
          <a:stretch/>
        </p:blipFill>
        <p:spPr>
          <a:xfrm>
            <a:off x="7317600" y="185625"/>
            <a:ext cx="1399902" cy="541300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5259510E-137A-4E41-5D57-957010533328}"/>
              </a:ext>
            </a:extLst>
          </p:cNvPr>
          <p:cNvSpPr txBox="1"/>
          <p:nvPr/>
        </p:nvSpPr>
        <p:spPr>
          <a:xfrm>
            <a:off x="286576" y="1974735"/>
            <a:ext cx="8518211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ID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Berdasarkan</a:t>
            </a:r>
            <a:r>
              <a:rPr lang="en-ID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hasil</a:t>
            </a:r>
            <a:r>
              <a:rPr lang="en-ID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analisis</a:t>
            </a:r>
            <a:r>
              <a:rPr lang="en-ID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dashboard, PT Sejahtera Bersama </a:t>
            </a:r>
            <a:r>
              <a:rPr lang="en-ID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masih</a:t>
            </a:r>
            <a:r>
              <a:rPr lang="en-ID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memiliki</a:t>
            </a:r>
            <a:r>
              <a:rPr lang="en-ID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performa</a:t>
            </a:r>
            <a:r>
              <a:rPr lang="en-ID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penjualan</a:t>
            </a:r>
            <a:r>
              <a:rPr lang="en-ID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yang </a:t>
            </a:r>
            <a:r>
              <a:rPr lang="en-ID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baik</a:t>
            </a:r>
            <a:r>
              <a:rPr lang="en-ID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dengan</a:t>
            </a:r>
            <a:r>
              <a:rPr lang="en-ID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total revenue </a:t>
            </a:r>
            <a:r>
              <a:rPr lang="en-ID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sebesar</a:t>
            </a:r>
            <a:r>
              <a:rPr lang="en-ID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$18,48 </a:t>
            </a:r>
            <a:r>
              <a:rPr lang="en-ID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juta</a:t>
            </a:r>
            <a:r>
              <a:rPr lang="en-ID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selama</a:t>
            </a:r>
            <a:r>
              <a:rPr lang="en-ID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dua</a:t>
            </a:r>
            <a:r>
              <a:rPr lang="en-ID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tahun</a:t>
            </a:r>
            <a:r>
              <a:rPr lang="en-ID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ID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Namun</a:t>
            </a:r>
            <a:r>
              <a:rPr lang="en-ID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terjadi</a:t>
            </a:r>
            <a:r>
              <a:rPr lang="en-ID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penurunan</a:t>
            </a:r>
            <a:r>
              <a:rPr lang="en-ID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penjualan</a:t>
            </a:r>
            <a:r>
              <a:rPr lang="en-ID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sebesar</a:t>
            </a:r>
            <a:r>
              <a:rPr lang="en-ID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13,23%</a:t>
            </a:r>
            <a:r>
              <a:rPr lang="en-ID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pada </a:t>
            </a:r>
            <a:r>
              <a:rPr lang="en-ID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tahun</a:t>
            </a:r>
            <a:r>
              <a:rPr lang="en-ID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2021 </a:t>
            </a:r>
            <a:r>
              <a:rPr lang="en-ID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dibandingkan</a:t>
            </a:r>
            <a:r>
              <a:rPr lang="en-ID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tahun</a:t>
            </a:r>
            <a:r>
              <a:rPr lang="en-ID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2020.</a:t>
            </a:r>
          </a:p>
          <a:p>
            <a:pPr algn="just"/>
            <a:endParaRPr lang="en-ID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ID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Kategori</a:t>
            </a:r>
            <a:r>
              <a:rPr lang="en-ID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Training Videos </a:t>
            </a:r>
            <a:r>
              <a:rPr lang="en-ID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menjadi</a:t>
            </a:r>
            <a:r>
              <a:rPr lang="en-ID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kontributor</a:t>
            </a:r>
            <a:r>
              <a:rPr lang="en-ID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revenue </a:t>
            </a:r>
            <a:r>
              <a:rPr lang="en-ID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terbesar</a:t>
            </a:r>
            <a:r>
              <a:rPr lang="en-ID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D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sedangkan</a:t>
            </a:r>
            <a:r>
              <a:rPr lang="en-ID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eBooks </a:t>
            </a:r>
            <a:r>
              <a:rPr lang="en-ID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menjadi</a:t>
            </a:r>
            <a:r>
              <a:rPr lang="en-ID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kategori</a:t>
            </a:r>
            <a:r>
              <a:rPr lang="en-ID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dengan</a:t>
            </a:r>
            <a:r>
              <a:rPr lang="en-ID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jumlah</a:t>
            </a:r>
            <a:r>
              <a:rPr lang="en-ID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penjualan</a:t>
            </a:r>
            <a:r>
              <a:rPr lang="en-ID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tertinggi</a:t>
            </a:r>
            <a:r>
              <a:rPr lang="en-ID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ID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Selain</a:t>
            </a:r>
            <a:r>
              <a:rPr lang="en-ID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itu</a:t>
            </a:r>
            <a:r>
              <a:rPr lang="en-ID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Washington </a:t>
            </a:r>
            <a:r>
              <a:rPr lang="en-ID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merupakan</a:t>
            </a:r>
            <a:r>
              <a:rPr lang="en-ID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wilayah </a:t>
            </a:r>
            <a:r>
              <a:rPr lang="en-ID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dengan</a:t>
            </a:r>
            <a:r>
              <a:rPr lang="en-ID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kontribusi</a:t>
            </a:r>
            <a:r>
              <a:rPr lang="en-ID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penjualan</a:t>
            </a:r>
            <a:r>
              <a:rPr lang="en-ID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terbesar</a:t>
            </a:r>
            <a:r>
              <a:rPr lang="en-ID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10" name="Google Shape;96;p16">
            <a:extLst>
              <a:ext uri="{FF2B5EF4-FFF2-40B4-BE49-F238E27FC236}">
                <a16:creationId xmlns:a16="http://schemas.microsoft.com/office/drawing/2014/main" id="{87D9B8E6-22D9-B152-CBC4-F721FCCB7DEB}"/>
              </a:ext>
            </a:extLst>
          </p:cNvPr>
          <p:cNvSpPr txBox="1"/>
          <p:nvPr/>
        </p:nvSpPr>
        <p:spPr>
          <a:xfrm>
            <a:off x="161027" y="603030"/>
            <a:ext cx="8463000" cy="954300"/>
          </a:xfrm>
          <a:prstGeom prst="rect">
            <a:avLst/>
          </a:prstGeom>
          <a:noFill/>
          <a:ln>
            <a:noFill/>
          </a:ln>
          <a:effectLst>
            <a:outerShdw blurRad="57150" dist="19050" dir="2820000" algn="bl" rotWithShape="0">
              <a:srgbClr val="B7B7B7">
                <a:alpha val="86000"/>
              </a:srgbClr>
            </a:outerShdw>
          </a:effectLst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0" b="1" dirty="0">
                <a:latin typeface="Rubik"/>
                <a:ea typeface="Rubik"/>
                <a:cs typeface="Rubik"/>
                <a:sym typeface="Rubik"/>
              </a:rPr>
              <a:t>HASIL ANALISIS</a:t>
            </a:r>
            <a:endParaRPr sz="5000" b="1" dirty="0">
              <a:latin typeface="Rubik"/>
              <a:ea typeface="Rubik"/>
              <a:cs typeface="Rubik"/>
              <a:sym typeface="Rubik"/>
            </a:endParaRPr>
          </a:p>
        </p:txBody>
      </p:sp>
    </p:spTree>
    <p:extLst>
      <p:ext uri="{BB962C8B-B14F-4D97-AF65-F5344CB8AC3E}">
        <p14:creationId xmlns:p14="http://schemas.microsoft.com/office/powerpoint/2010/main" val="19982917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" name="Google Shape;103;p17"/>
          <p:cNvPicPr preferRelativeResize="0"/>
          <p:nvPr/>
        </p:nvPicPr>
        <p:blipFill>
          <a:blip r:embed="rId3">
            <a:alphaModFix amt="5000"/>
          </a:blip>
          <a:stretch>
            <a:fillRect/>
          </a:stretch>
        </p:blipFill>
        <p:spPr>
          <a:xfrm>
            <a:off x="0" y="0"/>
            <a:ext cx="9144001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" name="Google Shape;105;p17"/>
          <p:cNvPicPr preferRelativeResize="0"/>
          <p:nvPr/>
        </p:nvPicPr>
        <p:blipFill rotWithShape="1">
          <a:blip r:embed="rId4">
            <a:alphaModFix/>
          </a:blip>
          <a:srcRect t="5659" b="5650"/>
          <a:stretch/>
        </p:blipFill>
        <p:spPr>
          <a:xfrm>
            <a:off x="7317600" y="185625"/>
            <a:ext cx="1399902" cy="541300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5259510E-137A-4E41-5D57-957010533328}"/>
              </a:ext>
            </a:extLst>
          </p:cNvPr>
          <p:cNvSpPr txBox="1"/>
          <p:nvPr/>
        </p:nvSpPr>
        <p:spPr>
          <a:xfrm>
            <a:off x="275006" y="1896997"/>
            <a:ext cx="8750296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D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Adapun </a:t>
            </a:r>
            <a:r>
              <a:rPr lang="en-ID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rekomendasi</a:t>
            </a:r>
            <a:r>
              <a:rPr lang="en-ID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yang </a:t>
            </a:r>
            <a:r>
              <a:rPr lang="en-ID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saya</a:t>
            </a:r>
            <a:r>
              <a:rPr lang="en-ID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sampaikan</a:t>
            </a:r>
            <a:r>
              <a:rPr lang="en-ID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342900" indent="-342900">
              <a:buFont typeface="+mj-lt"/>
              <a:buAutoNum type="arabicPeriod"/>
            </a:pPr>
            <a:r>
              <a:rPr lang="sv-SE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Mempertahankan kategori Training Videos sebagai produk unggulan perusahaan.</a:t>
            </a:r>
          </a:p>
          <a:p>
            <a:pPr marL="342900" indent="-342900">
              <a:buFont typeface="+mj-lt"/>
              <a:buAutoNum type="arabicPeriod"/>
            </a:pPr>
            <a:r>
              <a:rPr lang="en-ID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Meningkatkan</a:t>
            </a:r>
            <a:r>
              <a:rPr lang="en-ID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strategi upselling dan bundling pada </a:t>
            </a:r>
            <a:r>
              <a:rPr lang="en-ID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kategori</a:t>
            </a:r>
            <a:r>
              <a:rPr lang="en-ID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eBooks.</a:t>
            </a:r>
          </a:p>
          <a:p>
            <a:pPr marL="342900" indent="-342900">
              <a:buFont typeface="+mj-lt"/>
              <a:buAutoNum type="arabicPeriod"/>
            </a:pPr>
            <a:r>
              <a:rPr lang="en-ID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Memfokuskan</a:t>
            </a:r>
            <a:r>
              <a:rPr lang="en-ID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aktivitas</a:t>
            </a:r>
            <a:r>
              <a:rPr lang="en-ID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pemasaran</a:t>
            </a:r>
            <a:r>
              <a:rPr lang="en-ID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pada </a:t>
            </a:r>
            <a:r>
              <a:rPr lang="en-ID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kota</a:t>
            </a:r>
            <a:r>
              <a:rPr lang="en-ID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dengan</a:t>
            </a:r>
            <a:r>
              <a:rPr lang="en-ID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kontribusi</a:t>
            </a:r>
            <a:r>
              <a:rPr lang="en-ID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penjualan</a:t>
            </a:r>
            <a:r>
              <a:rPr lang="en-ID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terbesar</a:t>
            </a:r>
            <a:r>
              <a:rPr lang="en-ID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indent="-342900">
              <a:buFont typeface="+mj-lt"/>
              <a:buAutoNum type="arabicPeriod"/>
            </a:pPr>
            <a:r>
              <a:rPr lang="en-ID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Mengembangkan</a:t>
            </a:r>
            <a:r>
              <a:rPr lang="en-ID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program </a:t>
            </a:r>
            <a:r>
              <a:rPr lang="en-ID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loyalitas</a:t>
            </a:r>
            <a:r>
              <a:rPr lang="en-ID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pelanggan</a:t>
            </a:r>
            <a:r>
              <a:rPr lang="en-ID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untuk</a:t>
            </a:r>
            <a:r>
              <a:rPr lang="en-ID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meningkatkan</a:t>
            </a:r>
            <a:r>
              <a:rPr lang="en-ID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frekuensi</a:t>
            </a:r>
            <a:r>
              <a:rPr lang="en-ID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pembelian</a:t>
            </a:r>
            <a:r>
              <a:rPr lang="en-ID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indent="-342900">
              <a:buFont typeface="+mj-lt"/>
              <a:buAutoNum type="arabicPeriod"/>
            </a:pPr>
            <a:r>
              <a:rPr lang="en-ID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Menerapkan</a:t>
            </a:r>
            <a:r>
              <a:rPr lang="en-ID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strategi cross-selling </a:t>
            </a:r>
            <a:r>
              <a:rPr lang="en-ID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antar</a:t>
            </a:r>
            <a:r>
              <a:rPr lang="en-ID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kategori</a:t>
            </a:r>
            <a:r>
              <a:rPr lang="en-ID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produk</a:t>
            </a:r>
            <a:r>
              <a:rPr lang="en-ID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indent="-342900">
              <a:buFont typeface="+mj-lt"/>
              <a:buAutoNum type="arabicPeriod"/>
            </a:pPr>
            <a:r>
              <a:rPr lang="en-ID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Melakukan</a:t>
            </a:r>
            <a:r>
              <a:rPr lang="en-ID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evaluasi</a:t>
            </a:r>
            <a:r>
              <a:rPr lang="en-ID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terhadap</a:t>
            </a:r>
            <a:r>
              <a:rPr lang="en-ID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penurunan</a:t>
            </a:r>
            <a:r>
              <a:rPr lang="en-ID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performa</a:t>
            </a:r>
            <a:r>
              <a:rPr lang="en-ID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penjualan</a:t>
            </a:r>
            <a:r>
              <a:rPr lang="en-ID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tahun</a:t>
            </a:r>
            <a:r>
              <a:rPr lang="en-ID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2021.</a:t>
            </a:r>
          </a:p>
        </p:txBody>
      </p:sp>
      <p:sp>
        <p:nvSpPr>
          <p:cNvPr id="10" name="Google Shape;96;p16">
            <a:extLst>
              <a:ext uri="{FF2B5EF4-FFF2-40B4-BE49-F238E27FC236}">
                <a16:creationId xmlns:a16="http://schemas.microsoft.com/office/drawing/2014/main" id="{87D9B8E6-22D9-B152-CBC4-F721FCCB7DEB}"/>
              </a:ext>
            </a:extLst>
          </p:cNvPr>
          <p:cNvSpPr txBox="1"/>
          <p:nvPr/>
        </p:nvSpPr>
        <p:spPr>
          <a:xfrm>
            <a:off x="418654" y="722544"/>
            <a:ext cx="8463000" cy="954300"/>
          </a:xfrm>
          <a:prstGeom prst="rect">
            <a:avLst/>
          </a:prstGeom>
          <a:noFill/>
          <a:ln>
            <a:noFill/>
          </a:ln>
          <a:effectLst>
            <a:outerShdw blurRad="57150" dist="19050" dir="2820000" algn="bl" rotWithShape="0">
              <a:srgbClr val="B7B7B7">
                <a:alpha val="86000"/>
              </a:srgbClr>
            </a:outerShdw>
          </a:effectLst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0" b="1" dirty="0">
                <a:latin typeface="Rubik"/>
                <a:ea typeface="Rubik"/>
                <a:cs typeface="Rubik"/>
                <a:sym typeface="Rubik"/>
              </a:rPr>
              <a:t>REKOMENDASI</a:t>
            </a:r>
            <a:endParaRPr sz="5000" b="1" dirty="0">
              <a:latin typeface="Rubik"/>
              <a:ea typeface="Rubik"/>
              <a:cs typeface="Rubik"/>
              <a:sym typeface="Rubik"/>
            </a:endParaRPr>
          </a:p>
        </p:txBody>
      </p:sp>
    </p:spTree>
    <p:extLst>
      <p:ext uri="{BB962C8B-B14F-4D97-AF65-F5344CB8AC3E}">
        <p14:creationId xmlns:p14="http://schemas.microsoft.com/office/powerpoint/2010/main" val="267725901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DE0E092-37F6-246B-EDDD-7D0274A6D3FF}"/>
              </a:ext>
            </a:extLst>
          </p:cNvPr>
          <p:cNvSpPr/>
          <p:nvPr/>
        </p:nvSpPr>
        <p:spPr>
          <a:xfrm>
            <a:off x="0" y="-16325"/>
            <a:ext cx="9144001" cy="5392112"/>
          </a:xfrm>
          <a:prstGeom prst="rect">
            <a:avLst/>
          </a:prstGeom>
          <a:solidFill>
            <a:srgbClr val="019FA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pic>
        <p:nvPicPr>
          <p:cNvPr id="103" name="Google Shape;103;p17"/>
          <p:cNvPicPr preferRelativeResize="0">
            <a:picLocks/>
          </p:cNvPicPr>
          <p:nvPr/>
        </p:nvPicPr>
        <p:blipFill>
          <a:blip r:embed="rId3">
            <a:alphaModFix amt="5000"/>
          </a:blip>
          <a:stretch>
            <a:fillRect/>
          </a:stretch>
        </p:blipFill>
        <p:spPr>
          <a:xfrm>
            <a:off x="0" y="40096"/>
            <a:ext cx="9144001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Google Shape;128;p20">
            <a:extLst>
              <a:ext uri="{FF2B5EF4-FFF2-40B4-BE49-F238E27FC236}">
                <a16:creationId xmlns:a16="http://schemas.microsoft.com/office/drawing/2014/main" id="{73004521-913D-58FC-182F-82FF1099D9C2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683391" y="4328956"/>
            <a:ext cx="1399901" cy="541300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Google Shape;129;p20">
            <a:extLst>
              <a:ext uri="{FF2B5EF4-FFF2-40B4-BE49-F238E27FC236}">
                <a16:creationId xmlns:a16="http://schemas.microsoft.com/office/drawing/2014/main" id="{9E4DBE13-E9AC-59A2-2E57-1382906254B0}"/>
              </a:ext>
            </a:extLst>
          </p:cNvPr>
          <p:cNvSpPr txBox="1"/>
          <p:nvPr/>
        </p:nvSpPr>
        <p:spPr>
          <a:xfrm>
            <a:off x="2376000" y="1821786"/>
            <a:ext cx="4392000" cy="8772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500" b="1" dirty="0">
                <a:solidFill>
                  <a:schemeClr val="lt1"/>
                </a:solidFill>
                <a:latin typeface="Rubik"/>
                <a:ea typeface="Rubik"/>
                <a:cs typeface="Rubik"/>
                <a:sym typeface="Rubik"/>
              </a:rPr>
              <a:t>Thank You</a:t>
            </a:r>
            <a:endParaRPr sz="2000" dirty="0">
              <a:solidFill>
                <a:schemeClr val="lt1"/>
              </a:solidFill>
              <a:latin typeface="Rubik"/>
              <a:ea typeface="Rubik"/>
              <a:cs typeface="Rubik"/>
              <a:sym typeface="Rubik"/>
            </a:endParaRPr>
          </a:p>
        </p:txBody>
      </p:sp>
      <p:sp>
        <p:nvSpPr>
          <p:cNvPr id="5" name="Google Shape;130;p20">
            <a:extLst>
              <a:ext uri="{FF2B5EF4-FFF2-40B4-BE49-F238E27FC236}">
                <a16:creationId xmlns:a16="http://schemas.microsoft.com/office/drawing/2014/main" id="{C0C26C4E-824E-2AE9-5AEC-6D42C21F1C3A}"/>
              </a:ext>
            </a:extLst>
          </p:cNvPr>
          <p:cNvSpPr txBox="1"/>
          <p:nvPr/>
        </p:nvSpPr>
        <p:spPr>
          <a:xfrm>
            <a:off x="4367201" y="4328956"/>
            <a:ext cx="4578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 dirty="0">
                <a:solidFill>
                  <a:schemeClr val="lt1"/>
                </a:solidFill>
                <a:latin typeface="Rubik SemiBold"/>
                <a:ea typeface="Rubik SemiBold"/>
                <a:cs typeface="Rubik SemiBold"/>
                <a:sym typeface="Rubik SemiBold"/>
              </a:rPr>
              <a:t>X</a:t>
            </a:r>
            <a:endParaRPr sz="3000" dirty="0">
              <a:solidFill>
                <a:schemeClr val="lt1"/>
              </a:solidFill>
              <a:latin typeface="Rubik SemiBold"/>
              <a:ea typeface="Rubik SemiBold"/>
              <a:cs typeface="Rubik SemiBold"/>
              <a:sym typeface="Rubik SemiBold"/>
            </a:endParaRP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F75B2586-1753-D7AF-A372-E9384604A4D7}"/>
              </a:ext>
            </a:extLst>
          </p:cNvPr>
          <p:cNvGrpSpPr/>
          <p:nvPr/>
        </p:nvGrpSpPr>
        <p:grpSpPr>
          <a:xfrm>
            <a:off x="4825001" y="4043166"/>
            <a:ext cx="1666584" cy="1060238"/>
            <a:chOff x="2386876" y="-28607"/>
            <a:chExt cx="1666584" cy="1060238"/>
          </a:xfrm>
        </p:grpSpPr>
        <p:pic>
          <p:nvPicPr>
            <p:cNvPr id="7" name="Picture 6" descr="A logo with text on it&#10;&#10;Description automatically generated">
              <a:extLst>
                <a:ext uri="{FF2B5EF4-FFF2-40B4-BE49-F238E27FC236}">
                  <a16:creationId xmlns:a16="http://schemas.microsoft.com/office/drawing/2014/main" id="{C31CADEF-A16F-6D0B-1550-F7282D8CBF1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2386876" y="-28607"/>
              <a:ext cx="1666584" cy="1060238"/>
            </a:xfrm>
            <a:prstGeom prst="rect">
              <a:avLst/>
            </a:prstGeom>
          </p:spPr>
        </p:pic>
        <p:pic>
          <p:nvPicPr>
            <p:cNvPr id="8" name="Picture 7" descr="A logo with text on it&#10;&#10;Description automatically generated">
              <a:extLst>
                <a:ext uri="{FF2B5EF4-FFF2-40B4-BE49-F238E27FC236}">
                  <a16:creationId xmlns:a16="http://schemas.microsoft.com/office/drawing/2014/main" id="{84B523CA-D072-E2D6-249F-97802D50F4D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2386876" y="-28607"/>
              <a:ext cx="1666584" cy="106023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51110144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789</TotalTime>
  <Words>522</Words>
  <Application>Microsoft Office PowerPoint</Application>
  <PresentationFormat>On-screen Show (16:9)</PresentationFormat>
  <Paragraphs>60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8" baseType="lpstr">
      <vt:lpstr>Rubik</vt:lpstr>
      <vt:lpstr>Times New Roman</vt:lpstr>
      <vt:lpstr>Arial</vt:lpstr>
      <vt:lpstr>Calibri</vt:lpstr>
      <vt:lpstr>Rubik SemiBold</vt:lpstr>
      <vt:lpstr>Calibri Light</vt:lpstr>
      <vt:lpstr>Rubik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Joko Sulistyo</cp:lastModifiedBy>
  <cp:revision>5</cp:revision>
  <dcterms:modified xsi:type="dcterms:W3CDTF">2026-06-06T12:23:47Z</dcterms:modified>
</cp:coreProperties>
</file>